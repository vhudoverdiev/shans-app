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02842028bb74b3d" /><Relationship Type="http://schemas.openxmlformats.org/officeDocument/2006/relationships/extended-properties" Target="/docProps/app.xml" Id="R91cfd05803c64fdd" /><Relationship Type="http://schemas.openxmlformats.org/officeDocument/2006/relationships/officeDocument" Target="/ppt/presentation.xml" Id="Rb82e45f5b9d44c6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5f8bde43d85408d"/>
  </p:sldMasterIdLst>
  <p:notesMasterIdLst>
    <p:notesMasterId xmlns:r="http://schemas.openxmlformats.org/officeDocument/2006/relationships" r:id="R1de8ad49095c4d74"/>
  </p:notesMasterIdLst>
  <p:sldIdLst>
    <p:sldId xmlns:r="http://schemas.openxmlformats.org/officeDocument/2006/relationships" id="256" r:id="Rdc9685ad15fa4b88"/>
    <p:sldId xmlns:r="http://schemas.openxmlformats.org/officeDocument/2006/relationships" id="257" r:id="Ra967f798c1ab4751"/>
    <p:sldId xmlns:r="http://schemas.openxmlformats.org/officeDocument/2006/relationships" id="258" r:id="Rd9b9acd097b24b3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c539ae7bc984da8" /><Relationship Type="http://schemas.openxmlformats.org/officeDocument/2006/relationships/slideMaster" Target="/ppt/slideMasters/slideMaster1.xml" Id="R35f8bde43d85408d" /><Relationship Type="http://schemas.openxmlformats.org/officeDocument/2006/relationships/notesMaster" Target="/ppt/notesMasters/notesMaster1.xml" Id="R1de8ad49095c4d74" /><Relationship Type="http://schemas.openxmlformats.org/officeDocument/2006/relationships/presProps" Target="/ppt/presProps.xml" Id="R8cef2c0c659a447e" /><Relationship Type="http://schemas.openxmlformats.org/officeDocument/2006/relationships/tableStyles" Target="/ppt/tableStyles.xml" Id="R8d4de5ca49514e2f" /><Relationship Type="http://schemas.openxmlformats.org/officeDocument/2006/relationships/slide" Target="/ppt/slides/slide1.xml" Id="Rdc9685ad15fa4b88" /><Relationship Type="http://schemas.openxmlformats.org/officeDocument/2006/relationships/slide" Target="/ppt/slides/slide2.xml" Id="Ra967f798c1ab4751" /><Relationship Type="http://schemas.openxmlformats.org/officeDocument/2006/relationships/slide" Target="/ppt/slides/slide3.xml" Id="Rd9b9acd097b24b3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aa65f6cc1e2413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9e16ad02b4c4018" /><Relationship Type="http://schemas.openxmlformats.org/officeDocument/2006/relationships/notesMaster" Target="/ppt/notesMasters/notesMaster1.xml" Id="Rba3ebb289561467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86bef93504a47ed" /><Relationship Type="http://schemas.openxmlformats.org/officeDocument/2006/relationships/notesMaster" Target="/ppt/notesMasters/notesMaster1.xml" Id="Re489d29c9c674cb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c51c5fe61494508" /><Relationship Type="http://schemas.openxmlformats.org/officeDocument/2006/relationships/notesMaster" Target="/ppt/notesMasters/notesMaster1.xml" Id="R2bcf585442ad413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Локальный проект Shans: README.md, app/templates, app/static/css/style.css, app/static/css/mobile.css.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Локальный проект Shans: app/routes.py, app/planner.py, app/learning.py, app/workouts.py, app/nutrition.py.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Фотография разработчика: файл пользователя C:/Users/Владимир/Desktop/ываыва.jpg.</a:t>
            </a:r>
          </a:p>
          <a:p xmlns:a="http://schemas.openxmlformats.org/drawingml/2006/main">
            <a:r>
              <a:t>Логика и функции проекта: локальный проект Shans.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46a70eb3e064dd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05edcff9a92472d" /><Relationship Type="http://schemas.openxmlformats.org/officeDocument/2006/relationships/slideLayout" Target="/ppt/slideLayouts/slideLayout1.xml" Id="R2d91aaab2d054a6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d91aaab2d054a6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5f93d48ff54f8f" /><Relationship Type="http://schemas.openxmlformats.org/officeDocument/2006/relationships/image" Target="/ppt/media/image.png" Id="Rcf05775cc3684406" /><Relationship Type="http://schemas.openxmlformats.org/officeDocument/2006/relationships/notesSlide" Target="/ppt/notesSlides/notesSlide1.xml" Id="R6fb703aa597e487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da745f22d049dc" /><Relationship Type="http://schemas.openxmlformats.org/officeDocument/2006/relationships/notesSlide" Target="/ppt/notesSlides/notesSlide2.xml" Id="R848267070a7744f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e2545a31d74b35" /><Relationship Type="http://schemas.openxmlformats.org/officeDocument/2006/relationships/image" Target="/ppt/media/image.jpeg" Id="Rcb851ec883654e3f" /><Relationship Type="http://schemas.openxmlformats.org/officeDocument/2006/relationships/notesSlide" Target="/ppt/notesSlides/notesSlide3.xml" Id="Rd5c20cc84a2c4d1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4F20AE3-3195-45CD-B1EF-FFFEA30E6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A52C9A-BC18-47B8-928B-A3917E2D8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f05775cc3684406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247650"/>
            <a:ext cx="419100" cy="419100"/>
          </a:xfrm>
          <a:prstGeom xmlns:a="http://schemas.openxmlformats.org/drawingml/2006/main" prst="roundRect">
            <a:avLst>
              <a:gd name="adj" fmla="val 27273"/>
            </a:avLst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8A058E-9A40-428E-BA34-9DF4BB9BE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6670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172A"/>
                </a:solidFill>
              </a:defRPr>
            </a:pPr>
            <a:r>
              <a:rPr sz="1350" b="1">
                <a:solidFill>
                  <a:srgbClr val="0F172A"/>
                </a:solidFill>
              </a:rPr>
              <a:t>SHANS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8DFE19-92E3-41E6-B0DA-47667AE9D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95300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4748B"/>
                </a:solidFill>
              </a:defRPr>
            </a:pPr>
            <a:r>
              <a:rPr sz="900">
                <a:solidFill>
                  <a:srgbClr val="64748B"/>
                </a:solidFill>
              </a:rPr>
              <a:t>личная система управления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FC550E0-C7E3-4205-9265-BBAD64529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361950"/>
            <a:ext cx="1847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2563EB"/>
                </a:solidFill>
              </a:defRPr>
            </a:pPr>
            <a:r>
              <a:rPr sz="1050" b="1">
                <a:solidFill>
                  <a:srgbClr val="2563EB"/>
                </a:solidFill>
              </a:rPr>
              <a:t>Портфолио проекта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93A48CF-F46F-4A7B-888E-FF24D9A9B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47800"/>
            <a:ext cx="72390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0F172A"/>
                </a:solidFill>
              </a:defRPr>
            </a:pPr>
            <a:r>
              <a:rPr sz="3750" b="1">
                <a:solidFill>
                  <a:srgbClr val="0F172A"/>
                </a:solidFill>
              </a:rPr>
              <a:t>Shans превращает личные процессы в систему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1BECB97-7C02-4949-BEFB-F217DED1C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52750"/>
            <a:ext cx="6286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334155"/>
                </a:solidFill>
              </a:defRPr>
            </a:pPr>
            <a:r>
              <a:rPr sz="1575">
                <a:solidFill>
                  <a:srgbClr val="334155"/>
                </a:solidFill>
              </a:rPr>
              <a:t>График, проекты, отчёты, авто, обучение, спорт и уведомления собраны в одном веб-приложении, чтобы пользователь видел приоритеты и не терял важные детали.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F829A05-34A7-448D-8483-19C5D035C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428750"/>
            <a:ext cx="2971800" cy="34290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E3E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3FB8693-1213-462C-8D7B-CA0A755C8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180975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563EB"/>
                </a:solidFill>
              </a:defRPr>
            </a:pPr>
            <a:r>
              <a:rPr sz="1125" b="1">
                <a:solidFill>
                  <a:srgbClr val="2563EB"/>
                </a:solidFill>
              </a:rPr>
              <a:t>Главная ценность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5399E3E-69B3-4AEC-9109-CC5B86763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247900"/>
            <a:ext cx="22479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F172A"/>
                </a:solidFill>
              </a:defRPr>
            </a:pPr>
            <a:r>
              <a:rPr sz="1875" b="1">
                <a:solidFill>
                  <a:srgbClr val="0F172A"/>
                </a:solidFill>
              </a:rPr>
              <a:t>Порядок вместо разрозненных заметок, таблиц и напоминаний.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7736FA0-C3E3-42A4-9EBF-D3BBED85B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752850"/>
            <a:ext cx="2247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FDBF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EF09DFE-5903-42B2-B92F-417511CE8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019550"/>
            <a:ext cx="2247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64748B"/>
                </a:solidFill>
              </a:defRPr>
            </a:pPr>
            <a:r>
              <a:rPr sz="1125">
                <a:solidFill>
                  <a:srgbClr val="64748B"/>
                </a:solidFill>
              </a:rPr>
              <a:t>PWA · Push · Excel · 2FA · роли доступа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27822BD-E828-412C-9D9C-456F0748E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01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C61DDF1-0AE3-4704-A7CF-C1C423A65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2006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F172A"/>
                </a:solidFill>
              </a:defRPr>
            </a:pPr>
            <a:r>
              <a:rPr sz="1500" b="1">
                <a:solidFill>
                  <a:srgbClr val="0F172A"/>
                </a:solidFill>
              </a:rPr>
              <a:t>Планировать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1EAC1DB-FB49-4DA4-809E-199C5BEEE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343525"/>
            <a:ext cx="514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BD5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8264EA5-D2C1-414E-84AF-C431B19FC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5219700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02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A38492C-189F-4B29-BDA1-8CF47BE5F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52006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F172A"/>
                </a:solidFill>
              </a:defRPr>
            </a:pPr>
            <a:r>
              <a:rPr sz="1500" b="1">
                <a:solidFill>
                  <a:srgbClr val="0F172A"/>
                </a:solidFill>
              </a:rPr>
              <a:t>Контролировать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06833E4-AAC8-49B2-89F2-CA11C4FF2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5343525"/>
            <a:ext cx="514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BD5E1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80B0A2C-C101-4BE4-B650-A65E718E5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5219700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03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FA02538-D50B-4878-ABB4-494AAC138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52006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F172A"/>
                </a:solidFill>
              </a:defRPr>
            </a:pPr>
            <a:r>
              <a:rPr sz="1500" b="1">
                <a:solidFill>
                  <a:srgbClr val="0F172A"/>
                </a:solidFill>
              </a:rPr>
              <a:t>Отчитываться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A56FEED-9752-4214-B2D2-69555F5E0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5343525"/>
            <a:ext cx="514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BD5E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65D9A6C-C029-40E2-A110-506C18403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5219700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04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26B6EEF-A344-46D6-9E3A-153C70665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52006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F172A"/>
                </a:solidFill>
              </a:defRPr>
            </a:pPr>
            <a:r>
              <a:rPr sz="1500" b="1">
                <a:solidFill>
                  <a:srgbClr val="0F172A"/>
                </a:solidFill>
              </a:rPr>
              <a:t>Развиваться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3AE7EB0-1939-484E-9B1B-51D24C1A3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531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4268630-FF9F-46ED-8CC0-9E3636A39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4748B"/>
                </a:solidFill>
              </a:defRPr>
            </a:pPr>
            <a:r>
              <a:rPr sz="900">
                <a:solidFill>
                  <a:srgbClr val="64748B"/>
                </a:solidFill>
              </a:rPr>
              <a:t>Shans · личная система управления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83E428D-8C0B-4FDA-933E-8779398D0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343650"/>
            <a:ext cx="933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4748B"/>
                </a:solidFill>
              </a:defRPr>
            </a:pPr>
            <a:r>
              <a:rPr sz="900" b="1">
                <a:solidFill>
                  <a:srgbClr val="64748B"/>
                </a:solidFill>
              </a:rPr>
              <a:t>01 / 03</a:t>
            </a:r>
          </a:p>
        </p:txBody>
      </p:sp>
    </p:spTree>
    <p:extLst>
      <p:ext uri="{BB962C8B-B14F-4D97-AF65-F5344CB8AC3E}">
        <p14:creationId xmlns:p14="http://schemas.microsoft.com/office/powerpoint/2010/main" val="170872338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0536895-D111-4602-BDAC-29A6808C6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2563EB"/>
                </a:solidFill>
              </a:defRPr>
            </a:pPr>
            <a:r>
              <a:rPr sz="975" b="1">
                <a:solidFill>
                  <a:srgbClr val="2563EB"/>
                </a:solidFill>
              </a:rPr>
              <a:t>02 · ФУНКЦИОНАЛЬНАЯ КАРТА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FAD050-20DA-487B-8805-C03E4FEBC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609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0F172A"/>
                </a:solidFill>
              </a:defRPr>
            </a:pPr>
            <a:r>
              <a:rPr sz="3300" b="1">
                <a:solidFill>
                  <a:srgbClr val="0F172A"/>
                </a:solidFill>
              </a:rPr>
              <a:t>Что закрывает система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D13756-87B9-4EF6-BECF-D3C94C1BA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7524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334155"/>
                </a:solidFill>
              </a:defRPr>
            </a:pPr>
            <a:r>
              <a:rPr sz="1425">
                <a:solidFill>
                  <a:srgbClr val="334155"/>
                </a:solidFill>
              </a:rPr>
              <a:t>Shans не пытается быть универсальной CRM. Он закрывает конкретные ежедневные процессы владельца: планирование, работу с проектами, учёт и личное развитие.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4793CC-C9E2-4304-9E22-4D9FEA209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14600"/>
            <a:ext cx="4819650" cy="3028950"/>
          </a:xfrm>
          <a:prstGeom xmlns:a="http://schemas.openxmlformats.org/drawingml/2006/main" prst="roundRect">
            <a:avLst>
              <a:gd name="adj" fmla="val 691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E3E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9D6F58-C2ED-4CEF-9D9B-18D170D50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857500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F172A"/>
                </a:solidFill>
              </a:defRPr>
            </a:pPr>
            <a:r>
              <a:rPr sz="1800" b="1">
                <a:solidFill>
                  <a:srgbClr val="0F172A"/>
                </a:solidFill>
              </a:rPr>
              <a:t>Операционный контур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98331F-AD08-431E-8E69-6CEB1CB8E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838575"/>
            <a:ext cx="4381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700D89-C7D8-44D8-A1C4-FFE76EAFE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39090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2563EB"/>
                </a:solidFill>
              </a:defRPr>
            </a:pPr>
            <a:r>
              <a:rPr sz="975" b="1">
                <a:solidFill>
                  <a:srgbClr val="2563EB"/>
                </a:solidFill>
              </a:rPr>
              <a:t>График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49FA247-CFF1-42CD-BC6D-DC06BAAB0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3371850"/>
            <a:ext cx="2762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172A"/>
                </a:solidFill>
              </a:defRPr>
            </a:pPr>
            <a:r>
              <a:rPr sz="1350" b="1">
                <a:solidFill>
                  <a:srgbClr val="0F172A"/>
                </a:solidFill>
              </a:rPr>
              <a:t>задачи, календарь, напоминания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AACA753-5E47-4A33-8F06-358F4F0D7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486275"/>
            <a:ext cx="4381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7F2BCD9-D717-4C84-B831-E21ADDBEC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03860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7C3AED"/>
                </a:solidFill>
              </a:defRPr>
            </a:pPr>
            <a:r>
              <a:rPr sz="975" b="1">
                <a:solidFill>
                  <a:srgbClr val="7C3AED"/>
                </a:solidFill>
              </a:rPr>
              <a:t>Съёмки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B19E7B3-4E55-463F-8E10-0ED2040FF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4019550"/>
            <a:ext cx="2762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172A"/>
                </a:solidFill>
              </a:defRPr>
            </a:pPr>
            <a:r>
              <a:rPr sz="1350" b="1">
                <a:solidFill>
                  <a:srgbClr val="0F172A"/>
                </a:solidFill>
              </a:rPr>
              <a:t>клиенты, записи, сценарии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3E99F90-934C-4C82-8390-55E185D69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133975"/>
            <a:ext cx="4381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9C7485E-EAA1-4D3D-B235-E4512564F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68630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5803D"/>
                </a:solidFill>
              </a:defRPr>
            </a:pPr>
            <a:r>
              <a:rPr sz="975" b="1">
                <a:solidFill>
                  <a:srgbClr val="15803D"/>
                </a:solidFill>
              </a:rPr>
              <a:t>Финансы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04CAFF6-05E7-449D-AA25-FDE3AB1FA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4667250"/>
            <a:ext cx="2762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172A"/>
                </a:solidFill>
              </a:defRPr>
            </a:pPr>
            <a:r>
              <a:rPr sz="1350" b="1">
                <a:solidFill>
                  <a:srgbClr val="0F172A"/>
                </a:solidFill>
              </a:rPr>
              <a:t>бюджет, баланс, Excel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123F81B-CAAE-4029-AF91-3DB01B368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514600"/>
            <a:ext cx="4819650" cy="3028950"/>
          </a:xfrm>
          <a:prstGeom xmlns:a="http://schemas.openxmlformats.org/drawingml/2006/main" prst="roundRect">
            <a:avLst>
              <a:gd name="adj" fmla="val 691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E3E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93938C6-16C7-49A8-BBD0-BA065A489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857500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F172A"/>
                </a:solidFill>
              </a:defRPr>
            </a:pPr>
            <a:r>
              <a:rPr sz="1800" b="1">
                <a:solidFill>
                  <a:srgbClr val="0F172A"/>
                </a:solidFill>
              </a:rPr>
              <a:t>Личный контур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26FF702-835F-4B73-8684-684EAE91B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838575"/>
            <a:ext cx="4381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B12A943-8F08-4B59-9723-3088F1AA4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39090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D97706"/>
                </a:solidFill>
              </a:defRPr>
            </a:pPr>
            <a:r>
              <a:rPr sz="975" b="1">
                <a:solidFill>
                  <a:srgbClr val="D97706"/>
                </a:solidFill>
              </a:rPr>
              <a:t>Авто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2C02935-9E7F-4C4F-836F-E71DB847F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371850"/>
            <a:ext cx="2762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172A"/>
                </a:solidFill>
              </a:defRPr>
            </a:pPr>
            <a:r>
              <a:rPr sz="1350" b="1">
                <a:solidFill>
                  <a:srgbClr val="0F172A"/>
                </a:solidFill>
              </a:rPr>
              <a:t>обслуживание, история, уведомления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30FBF4A-A040-4A78-A538-865283CFA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486275"/>
            <a:ext cx="4381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4BA353E-B61C-4036-9F1A-E7C147A16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03860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7C3AED"/>
                </a:solidFill>
              </a:defRPr>
            </a:pPr>
            <a:r>
              <a:rPr sz="975" b="1">
                <a:solidFill>
                  <a:srgbClr val="7C3AED"/>
                </a:solidFill>
              </a:rPr>
              <a:t>Развитие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DAD92BC-53FF-4836-B138-C26CBC85D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019550"/>
            <a:ext cx="2762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172A"/>
                </a:solidFill>
              </a:defRPr>
            </a:pPr>
            <a:r>
              <a:rPr sz="1350" b="1">
                <a:solidFill>
                  <a:srgbClr val="0F172A"/>
                </a:solidFill>
              </a:rPr>
              <a:t>IT, English, прогресс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468B79D-A6F0-46BD-97E9-AFAF755EB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5133975"/>
            <a:ext cx="4381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8EC49AB-CA5C-4CBB-9B68-D6C339BF3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68630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5803D"/>
                </a:solidFill>
              </a:defRPr>
            </a:pPr>
            <a:r>
              <a:rPr sz="975" b="1">
                <a:solidFill>
                  <a:srgbClr val="15803D"/>
                </a:solidFill>
              </a:rPr>
              <a:t>Здоровье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EA0C5D3-4B8A-4A2A-8CC8-B78556B61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667250"/>
            <a:ext cx="2762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172A"/>
                </a:solidFill>
              </a:defRPr>
            </a:pPr>
            <a:r>
              <a:rPr sz="1350" b="1">
                <a:solidFill>
                  <a:srgbClr val="0F172A"/>
                </a:solidFill>
              </a:rPr>
              <a:t>тренировки, питание, динамика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D13D774-837F-49BF-94BF-6E8DCD448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531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0896969-DBBA-441B-B7BC-8C3A611FD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4748B"/>
                </a:solidFill>
              </a:defRPr>
            </a:pPr>
            <a:r>
              <a:rPr sz="900">
                <a:solidFill>
                  <a:srgbClr val="64748B"/>
                </a:solidFill>
              </a:rPr>
              <a:t>Shans · личная система управления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0C3369A-7604-4C32-A0C8-966905F0A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343650"/>
            <a:ext cx="933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4748B"/>
                </a:solidFill>
              </a:defRPr>
            </a:pPr>
            <a:r>
              <a:rPr sz="900" b="1">
                <a:solidFill>
                  <a:srgbClr val="64748B"/>
                </a:solidFill>
              </a:rPr>
              <a:t>02 / 03</a:t>
            </a:r>
          </a:p>
        </p:txBody>
      </p:sp>
    </p:spTree>
    <p:extLst>
      <p:ext uri="{BB962C8B-B14F-4D97-AF65-F5344CB8AC3E}">
        <p14:creationId xmlns:p14="http://schemas.microsoft.com/office/powerpoint/2010/main" val="145528662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8F8443A-CFF6-44B5-9222-585E84EE9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2563EB"/>
                </a:solidFill>
              </a:defRPr>
            </a:pPr>
            <a:r>
              <a:rPr sz="975" b="1">
                <a:solidFill>
                  <a:srgbClr val="2563EB"/>
                </a:solidFill>
              </a:rPr>
              <a:t>03 · ГОТОВНОСТЬ И АВТОР ПРОЕКТА</a:t>
            </a:r>
          </a:p>
        </p:txBody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b851ec883654e3f"/>
          <a:srcRect xmlns:a="http://schemas.openxmlformats.org/drawingml/2006/main" l="0" t="12779" r="0" b="1277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562850" y="685800"/>
            <a:ext cx="3943350" cy="5219700"/>
          </a:xfrm>
          <a:prstGeom xmlns:a="http://schemas.openxmlformats.org/drawingml/2006/main" prst="roundRect">
            <a:avLst>
              <a:gd name="adj" fmla="val 5314"/>
            </a:avLst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D74904-1F5A-4559-B644-7CC276F86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61912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0F172A"/>
                </a:solidFill>
              </a:defRPr>
            </a:pPr>
            <a:r>
              <a:rPr sz="3225" b="1">
                <a:solidFill>
                  <a:srgbClr val="0F172A"/>
                </a:solidFill>
              </a:rPr>
              <a:t>Проект создан под реальные задачи и готов к развитию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80AD1C-02B0-4F56-A515-2B3335717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66950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563EB"/>
                </a:solidFill>
              </a:defRPr>
            </a:pPr>
            <a:r>
              <a:rPr sz="1500" b="1">
                <a:solidFill>
                  <a:srgbClr val="2563EB"/>
                </a:solidFill>
              </a:rPr>
              <a:t>Разработчик: Владимир Худовердиев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9F5E6B-D555-42E9-998E-CEF41C53E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05100"/>
            <a:ext cx="5905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334155"/>
                </a:solidFill>
              </a:defRPr>
            </a:pPr>
            <a:r>
              <a:rPr sz="1650">
                <a:solidFill>
                  <a:srgbClr val="334155"/>
                </a:solidFill>
              </a:rPr>
              <a:t>Shans ценен тем, что он вырос из практики: каждый раздел отвечает на понятную задачу, а не существует ради демонстрации функции.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D1943C-8E10-4BDE-A37E-A5A0F1C02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14750"/>
            <a:ext cx="5905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FDBF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C1DCC0-E46D-424E-AA4E-50C3F1D89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76700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563EB"/>
                </a:solidFill>
              </a:defRPr>
            </a:pPr>
            <a:r>
              <a:rPr sz="1500" b="1">
                <a:solidFill>
                  <a:srgbClr val="2563EB"/>
                </a:solidFill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745E565-6039-4A8F-890F-8EEA12A8D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0576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F172A"/>
                </a:solidFill>
              </a:defRPr>
            </a:pPr>
            <a:r>
              <a:rPr sz="1575" b="1">
                <a:solidFill>
                  <a:srgbClr val="0F172A"/>
                </a:solidFill>
              </a:rPr>
              <a:t>Понятная логика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790F99C-766A-412D-A815-2484D2B1E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381500"/>
            <a:ext cx="342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64748B"/>
                </a:solidFill>
              </a:defRPr>
            </a:pPr>
            <a:r>
              <a:rPr sz="1125">
                <a:solidFill>
                  <a:srgbClr val="64748B"/>
                </a:solidFill>
              </a:rPr>
              <a:t>Разделы сгруппированы по жизненным и рабочим сценариям пользователя.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9FEEC4D-95BB-4A04-B9E1-E32528BE2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29200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563EB"/>
                </a:solidFill>
              </a:defRPr>
            </a:pPr>
            <a:r>
              <a:rPr sz="1500" b="1">
                <a:solidFill>
                  <a:srgbClr val="2563EB"/>
                </a:solidFill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13786B7-1F8B-4B32-B62D-69186B8D0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0101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F172A"/>
                </a:solidFill>
              </a:defRPr>
            </a:pPr>
            <a:r>
              <a:rPr sz="1575" b="1">
                <a:solidFill>
                  <a:srgbClr val="0F172A"/>
                </a:solidFill>
              </a:rPr>
              <a:t>Мобильность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5638634-C38B-481E-942E-3EA8D042B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334000"/>
            <a:ext cx="342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64748B"/>
                </a:solidFill>
              </a:defRPr>
            </a:pPr>
            <a:r>
              <a:rPr sz="1125">
                <a:solidFill>
                  <a:srgbClr val="64748B"/>
                </a:solidFill>
              </a:rPr>
              <a:t>Интерфейс адаптирован под быстрые действия и уведомления на смартфоне.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D535E56-06B8-48A9-9D8B-EC5EE4B6D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076700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563EB"/>
                </a:solidFill>
              </a:defRPr>
            </a:pPr>
            <a:r>
              <a:rPr sz="1500" b="1">
                <a:solidFill>
                  <a:srgbClr val="2563EB"/>
                </a:solidFill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3887CB8-61E5-4947-883C-4EDB290B3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0576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F172A"/>
                </a:solidFill>
              </a:defRPr>
            </a:pPr>
            <a:r>
              <a:rPr sz="1575" b="1">
                <a:solidFill>
                  <a:srgbClr val="0F172A"/>
                </a:solidFill>
              </a:rPr>
              <a:t>Безопасность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1D2B5F2-EC4B-4149-AF4D-E265EB98E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381500"/>
            <a:ext cx="2476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64748B"/>
                </a:solidFill>
              </a:defRPr>
            </a:pPr>
            <a:r>
              <a:rPr sz="1125">
                <a:solidFill>
                  <a:srgbClr val="64748B"/>
                </a:solidFill>
              </a:rPr>
              <a:t>Авторизация, 2FA, роли доступа и управление аккаунтом заложены в основу.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9B45A25-512F-4480-B61A-9D05AF9AB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5029200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563EB"/>
                </a:solidFill>
              </a:defRPr>
            </a:pPr>
            <a:r>
              <a:rPr sz="1500" b="1">
                <a:solidFill>
                  <a:srgbClr val="2563EB"/>
                </a:solidFill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F211665-E0E3-4CCB-82F4-F073A092C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50101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F172A"/>
                </a:solidFill>
              </a:defRPr>
            </a:pPr>
            <a:r>
              <a:rPr sz="1575" b="1">
                <a:solidFill>
                  <a:srgbClr val="0F172A"/>
                </a:solidFill>
              </a:rPr>
              <a:t>Масштабирование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77DF086-593D-4723-92A6-890B031A4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5334000"/>
            <a:ext cx="2476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64748B"/>
                </a:solidFill>
              </a:defRPr>
            </a:pPr>
            <a:r>
              <a:rPr sz="1125">
                <a:solidFill>
                  <a:srgbClr val="64748B"/>
                </a:solidFill>
              </a:rPr>
              <a:t>Можно развивать дальше без смены архитектуры.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EC79B68-952E-4725-A5D5-C5BD9A070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531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D593505-3815-4E5B-BC03-854B58013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4748B"/>
                </a:solidFill>
              </a:defRPr>
            </a:pPr>
            <a:r>
              <a:rPr sz="900">
                <a:solidFill>
                  <a:srgbClr val="64748B"/>
                </a:solidFill>
              </a:rPr>
              <a:t>Shans · личная система управления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DA56648-A41B-4EE2-B640-3B4997C23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343650"/>
            <a:ext cx="933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4748B"/>
                </a:solidFill>
              </a:defRPr>
            </a:pPr>
            <a:r>
              <a:rPr sz="900" b="1">
                <a:solidFill>
                  <a:srgbClr val="64748B"/>
                </a:solidFill>
              </a:rPr>
              <a:t>03 / 03</a:t>
            </a:r>
          </a:p>
        </p:txBody>
      </p:sp>
    </p:spTree>
    <p:extLst>
      <p:ext uri="{BB962C8B-B14F-4D97-AF65-F5344CB8AC3E}">
        <p14:creationId xmlns:p14="http://schemas.microsoft.com/office/powerpoint/2010/main" val="78199737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2026-07-28T19:21:26.5790000Z</dcterms:created>
  <dcterms:modified xsi:type="dcterms:W3CDTF">2026-07-28T19:21:26.5790000Z</dcterms:modified>
</coreProperties>
</file>